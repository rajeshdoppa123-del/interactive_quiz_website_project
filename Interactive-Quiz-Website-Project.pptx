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embeddedFontLst>
    <p:embeddedFont>
      <p:font typeface="Roboto" panose="02000000000000000000" pitchFamily="2" charset="0"/>
      <p:regular r:id="rId10"/>
    </p:embeddedFont>
    <p:embeddedFont>
      <p:font typeface="Roboto Bold" panose="020B0604020202020204" charset="0"/>
      <p:regular r:id="rId11"/>
    </p:embeddedFont>
    <p:embeddedFont>
      <p:font typeface="Roboto Slab" pitchFamily="2" charset="0"/>
      <p:regular r:id="rId1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91836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1329630"/>
            <a:ext cx="4722763" cy="885974"/>
          </a:xfrm>
          <a:prstGeom prst="rect">
            <a:avLst/>
          </a:prstGeom>
          <a:noFill/>
          <a:ln/>
        </p:spPr>
        <p:txBody>
          <a:bodyPr wrap="square" lIns="0" tIns="0" rIns="0" bIns="0" rtlCol="0" anchor="t">
            <a:normAutofit/>
          </a:bodyPr>
          <a:lstStyle/>
          <a:p>
            <a:pPr marL="0" indent="0" algn="l">
              <a:lnSpc>
                <a:spcPct val="104000"/>
              </a:lnSpc>
              <a:buNone/>
            </a:pPr>
            <a:r>
              <a:rPr lang="en-US" sz="2750" dirty="0">
                <a:solidFill>
                  <a:srgbClr val="3257B8"/>
                </a:solidFill>
                <a:latin typeface="Roboto Slab" pitchFamily="34" charset="0"/>
                <a:ea typeface="Roboto Slab" pitchFamily="34" charset="-122"/>
                <a:cs typeface="Roboto Slab" pitchFamily="34" charset="-120"/>
              </a:rPr>
              <a:t>Interactive Quiz Application:</a:t>
            </a:r>
            <a:endParaRPr lang="en-US" sz="2750" dirty="0"/>
          </a:p>
        </p:txBody>
      </p:sp>
      <p:sp>
        <p:nvSpPr>
          <p:cNvPr id="4" name="Text 1"/>
          <p:cNvSpPr/>
          <p:nvPr/>
        </p:nvSpPr>
        <p:spPr>
          <a:xfrm>
            <a:off x="496119" y="2428205"/>
            <a:ext cx="4722763" cy="1385664"/>
          </a:xfrm>
          <a:prstGeom prst="rect">
            <a:avLst/>
          </a:prstGeom>
          <a:noFill/>
          <a:ln/>
        </p:spPr>
        <p:txBody>
          <a:bodyPr wrap="square" lIns="0" tIns="0" rIns="0" bIns="0" rtlCol="0" anchor="t"/>
          <a:lstStyle/>
          <a:p>
            <a:pPr marL="0" indent="0" algn="l">
              <a:lnSpc>
                <a:spcPct val="133000"/>
              </a:lnSpc>
              <a:spcAft>
                <a:spcPts val="1250"/>
              </a:spcAft>
              <a:buNone/>
            </a:pPr>
            <a:r>
              <a:rPr lang="en-US" sz="1100" dirty="0">
                <a:solidFill>
                  <a:srgbClr val="15213F"/>
                </a:solidFill>
                <a:latin typeface="Roboto" pitchFamily="34" charset="0"/>
                <a:ea typeface="Roboto" pitchFamily="34" charset="-122"/>
                <a:cs typeface="Roboto" pitchFamily="34" charset="-120"/>
              </a:rPr>
              <a:t>Name: DOPPA RAJESH </a:t>
            </a:r>
            <a:endParaRPr lang="en-US" sz="1100" dirty="0"/>
          </a:p>
          <a:p>
            <a:pPr marL="0" indent="0" algn="l">
              <a:lnSpc>
                <a:spcPct val="133000"/>
              </a:lnSpc>
              <a:spcAft>
                <a:spcPts val="1250"/>
              </a:spcAft>
              <a:buNone/>
            </a:pPr>
            <a:r>
              <a:rPr lang="en-US" sz="1100" dirty="0">
                <a:solidFill>
                  <a:srgbClr val="15213F"/>
                </a:solidFill>
                <a:latin typeface="Roboto" pitchFamily="34" charset="0"/>
                <a:ea typeface="Roboto" pitchFamily="34" charset="-122"/>
                <a:cs typeface="Roboto" pitchFamily="34" charset="-120"/>
              </a:rPr>
              <a:t> AF-ID: AF05221450 </a:t>
            </a:r>
            <a:endParaRPr lang="en-US" sz="1100" dirty="0"/>
          </a:p>
          <a:p>
            <a:pPr marL="0" indent="0" algn="l">
              <a:lnSpc>
                <a:spcPct val="133000"/>
              </a:lnSpc>
              <a:spcAft>
                <a:spcPts val="1250"/>
              </a:spcAft>
              <a:buNone/>
            </a:pPr>
            <a:r>
              <a:rPr lang="en-US" sz="1100" dirty="0">
                <a:solidFill>
                  <a:srgbClr val="15213F"/>
                </a:solidFill>
                <a:latin typeface="Roboto" pitchFamily="34" charset="0"/>
                <a:ea typeface="Roboto" pitchFamily="34" charset="-122"/>
                <a:cs typeface="Roboto" pitchFamily="34" charset="-120"/>
              </a:rPr>
              <a:t> Batch Code: ANP-D3572   </a:t>
            </a:r>
            <a:endParaRPr lang="en-US" sz="1100" dirty="0"/>
          </a:p>
          <a:p>
            <a:pPr marL="0" indent="0" algn="l">
              <a:lnSpc>
                <a:spcPct val="133000"/>
              </a:lnSpc>
              <a:buNone/>
            </a:pPr>
            <a:r>
              <a:rPr lang="en-US" sz="1100" dirty="0">
                <a:solidFill>
                  <a:srgbClr val="15213F"/>
                </a:solidFill>
                <a:latin typeface="Roboto" pitchFamily="34" charset="0"/>
                <a:ea typeface="Roboto" pitchFamily="34" charset="-122"/>
                <a:cs typeface="Roboto" pitchFamily="34" charset="-120"/>
              </a:rPr>
              <a:t> Presented by: Rajesh</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898996"/>
            <a:ext cx="4722763" cy="354360"/>
          </a:xfrm>
          <a:prstGeom prst="rect">
            <a:avLst/>
          </a:prstGeom>
          <a:noFill/>
          <a:ln/>
        </p:spPr>
        <p:txBody>
          <a:bodyPr wrap="none" lIns="0" tIns="0" rIns="0" bIns="0" rtlCol="0" anchor="t"/>
          <a:lstStyle/>
          <a:p>
            <a:pPr marL="0" indent="0" algn="l">
              <a:lnSpc>
                <a:spcPct val="104000"/>
              </a:lnSpc>
              <a:buNone/>
            </a:pPr>
            <a:r>
              <a:rPr lang="en-US" sz="2200" dirty="0">
                <a:solidFill>
                  <a:srgbClr val="3257B8"/>
                </a:solidFill>
                <a:latin typeface="Roboto Slab" pitchFamily="34" charset="0"/>
                <a:ea typeface="Roboto Slab" pitchFamily="34" charset="-122"/>
                <a:cs typeface="Roboto Slab" pitchFamily="34" charset="-120"/>
              </a:rPr>
              <a:t>Abstract: </a:t>
            </a:r>
            <a:endParaRPr lang="en-US" sz="2200" dirty="0"/>
          </a:p>
        </p:txBody>
      </p:sp>
      <p:sp>
        <p:nvSpPr>
          <p:cNvPr id="4" name="Shape 1"/>
          <p:cNvSpPr/>
          <p:nvPr/>
        </p:nvSpPr>
        <p:spPr>
          <a:xfrm>
            <a:off x="3925119" y="1465957"/>
            <a:ext cx="4722763" cy="2778472"/>
          </a:xfrm>
          <a:prstGeom prst="roundRect">
            <a:avLst>
              <a:gd name="adj" fmla="val 765"/>
            </a:avLst>
          </a:prstGeom>
          <a:solidFill>
            <a:srgbClr val="E9ECF2"/>
          </a:solidFill>
          <a:ln/>
        </p:spPr>
      </p:sp>
      <p:sp>
        <p:nvSpPr>
          <p:cNvPr id="5" name="Text 2"/>
          <p:cNvSpPr/>
          <p:nvPr/>
        </p:nvSpPr>
        <p:spPr>
          <a:xfrm>
            <a:off x="4066877" y="1607716"/>
            <a:ext cx="4439245" cy="2494955"/>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15213F"/>
                </a:solidFill>
                <a:latin typeface="Roboto" pitchFamily="34" charset="0"/>
                <a:ea typeface="Roboto" pitchFamily="34" charset="-122"/>
                <a:cs typeface="Roboto" pitchFamily="34" charset="-120"/>
              </a:rPr>
              <a:t>The </a:t>
            </a:r>
            <a:r>
              <a:rPr lang="en-US" sz="1100" b="1" dirty="0">
                <a:solidFill>
                  <a:srgbClr val="15213F"/>
                </a:solidFill>
                <a:latin typeface="Roboto Bold" pitchFamily="34" charset="0"/>
                <a:ea typeface="Roboto Bold" pitchFamily="34" charset="-122"/>
                <a:cs typeface="Roboto Bold" pitchFamily="34" charset="-120"/>
              </a:rPr>
              <a:t>Interactive Quiz Application</a:t>
            </a:r>
            <a:r>
              <a:rPr lang="en-US" sz="1100" dirty="0">
                <a:solidFill>
                  <a:srgbClr val="15213F"/>
                </a:solidFill>
                <a:latin typeface="Roboto" pitchFamily="34" charset="0"/>
                <a:ea typeface="Roboto" pitchFamily="34" charset="-122"/>
                <a:cs typeface="Roboto" pitchFamily="34" charset="-120"/>
              </a:rPr>
              <a:t> is a web-based front-end application designed to provide an engaging and user-friendly platform for online quizzes. The application allows users to register and log in, select quiz categories, answer multiple-choice questions, and receive instant results. It includes features such as a </a:t>
            </a:r>
            <a:r>
              <a:rPr lang="en-US" sz="1100" b="1" dirty="0">
                <a:solidFill>
                  <a:srgbClr val="15213F"/>
                </a:solidFill>
                <a:latin typeface="Roboto Bold" pitchFamily="34" charset="0"/>
                <a:ea typeface="Roboto Bold" pitchFamily="34" charset="-122"/>
                <a:cs typeface="Roboto Bold" pitchFamily="34" charset="-120"/>
              </a:rPr>
              <a:t>timer, progress bar, leaderboard</a:t>
            </a:r>
            <a:r>
              <a:rPr lang="en-US" sz="1100" b="1">
                <a:solidFill>
                  <a:srgbClr val="15213F"/>
                </a:solidFill>
                <a:latin typeface="Roboto Bold" pitchFamily="34" charset="0"/>
                <a:ea typeface="Roboto Bold" pitchFamily="34" charset="-122"/>
                <a:cs typeface="Roboto Bold" pitchFamily="34" charset="-120"/>
              </a:rPr>
              <a:t>,  </a:t>
            </a:r>
            <a:r>
              <a:rPr lang="en-US" sz="1100" b="1" dirty="0">
                <a:solidFill>
                  <a:srgbClr val="15213F"/>
                </a:solidFill>
                <a:latin typeface="Roboto Bold" pitchFamily="34" charset="0"/>
                <a:ea typeface="Roboto Bold" pitchFamily="34" charset="-122"/>
                <a:cs typeface="Roboto Bold" pitchFamily="34" charset="-120"/>
              </a:rPr>
              <a:t>and performance charts</a:t>
            </a:r>
            <a:r>
              <a:rPr lang="en-US" sz="1100" dirty="0">
                <a:solidFill>
                  <a:srgbClr val="15213F"/>
                </a:solidFill>
                <a:latin typeface="Roboto" pitchFamily="34" charset="0"/>
                <a:ea typeface="Roboto" pitchFamily="34" charset="-122"/>
                <a:cs typeface="Roboto" pitchFamily="34" charset="-120"/>
              </a:rPr>
              <a:t> to improve the learning experience. The application is developed using </a:t>
            </a:r>
            <a:r>
              <a:rPr lang="en-US" sz="1100" b="1" dirty="0">
                <a:solidFill>
                  <a:srgbClr val="15213F"/>
                </a:solidFill>
                <a:latin typeface="Roboto Bold" pitchFamily="34" charset="0"/>
                <a:ea typeface="Roboto Bold" pitchFamily="34" charset="-122"/>
                <a:cs typeface="Roboto Bold" pitchFamily="34" charset="-120"/>
              </a:rPr>
              <a:t>HTML, CSS, JavaScript, and Bootstrap</a:t>
            </a:r>
            <a:r>
              <a:rPr lang="en-US" sz="1100" dirty="0">
                <a:solidFill>
                  <a:srgbClr val="15213F"/>
                </a:solidFill>
                <a:latin typeface="Roboto" pitchFamily="34" charset="0"/>
                <a:ea typeface="Roboto" pitchFamily="34" charset="-122"/>
                <a:cs typeface="Roboto" pitchFamily="34" charset="-120"/>
              </a:rPr>
              <a:t>, with </a:t>
            </a:r>
            <a:r>
              <a:rPr lang="en-US" sz="1100" b="1" dirty="0">
                <a:solidFill>
                  <a:srgbClr val="15213F"/>
                </a:solidFill>
                <a:latin typeface="Roboto Bold" pitchFamily="34" charset="0"/>
                <a:ea typeface="Roboto Bold" pitchFamily="34" charset="-122"/>
                <a:cs typeface="Roboto Bold" pitchFamily="34" charset="-120"/>
              </a:rPr>
              <a:t>Local Storage</a:t>
            </a:r>
            <a:r>
              <a:rPr lang="en-US" sz="1100" dirty="0">
                <a:solidFill>
                  <a:srgbClr val="15213F"/>
                </a:solidFill>
                <a:latin typeface="Roboto" pitchFamily="34" charset="0"/>
                <a:ea typeface="Roboto" pitchFamily="34" charset="-122"/>
                <a:cs typeface="Roboto" pitchFamily="34" charset="-120"/>
              </a:rPr>
              <a:t> used to maintain user and quiz data. The responsive and interactive interface makes the application suitable for students and learners to test their knowledge, improve their skills, and track their performance.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558850"/>
            <a:ext cx="8151763" cy="354360"/>
          </a:xfrm>
          <a:prstGeom prst="rect">
            <a:avLst/>
          </a:prstGeom>
          <a:noFill/>
          <a:ln/>
        </p:spPr>
        <p:txBody>
          <a:bodyPr wrap="none" lIns="0" tIns="0" rIns="0" bIns="0" rtlCol="0" anchor="t"/>
          <a:lstStyle/>
          <a:p>
            <a:pPr marL="0" indent="0" algn="l">
              <a:lnSpc>
                <a:spcPct val="104000"/>
              </a:lnSpc>
              <a:buNone/>
            </a:pPr>
            <a:r>
              <a:rPr lang="en-US" sz="2200" dirty="0">
                <a:solidFill>
                  <a:srgbClr val="3257B8"/>
                </a:solidFill>
                <a:latin typeface="Roboto Slab" pitchFamily="34" charset="0"/>
                <a:ea typeface="Roboto Slab" pitchFamily="34" charset="-122"/>
                <a:cs typeface="Roboto Slab" pitchFamily="34" charset="-120"/>
              </a:rPr>
              <a:t>Introduction: </a:t>
            </a:r>
            <a:endParaRPr lang="en-US" sz="2200" dirty="0"/>
          </a:p>
        </p:txBody>
      </p:sp>
      <p:pic>
        <p:nvPicPr>
          <p:cNvPr id="3" name="Image 0" descr="preencoded.png"/>
          <p:cNvPicPr>
            <a:picLocks noChangeAspect="1"/>
          </p:cNvPicPr>
          <p:nvPr/>
        </p:nvPicPr>
        <p:blipFill>
          <a:blip r:embed="rId3"/>
          <a:stretch>
            <a:fillRect/>
          </a:stretch>
        </p:blipFill>
        <p:spPr>
          <a:xfrm>
            <a:off x="496119" y="1996529"/>
            <a:ext cx="3053135" cy="1717328"/>
          </a:xfrm>
          <a:prstGeom prst="rect">
            <a:avLst/>
          </a:prstGeom>
        </p:spPr>
      </p:pic>
      <p:sp>
        <p:nvSpPr>
          <p:cNvPr id="4" name="Text 1"/>
          <p:cNvSpPr/>
          <p:nvPr/>
        </p:nvSpPr>
        <p:spPr>
          <a:xfrm>
            <a:off x="3899892" y="1253356"/>
            <a:ext cx="4752677" cy="3203674"/>
          </a:xfrm>
          <a:prstGeom prst="rect">
            <a:avLst/>
          </a:prstGeom>
          <a:noFill/>
          <a:ln/>
        </p:spPr>
        <p:txBody>
          <a:bodyPr wrap="square" lIns="0" tIns="0" rIns="0" bIns="0" rtlCol="0" anchor="t">
            <a:normAutofit/>
          </a:bodyPr>
          <a:lstStyle/>
          <a:p>
            <a:pPr marL="0" indent="0" algn="l">
              <a:lnSpc>
                <a:spcPct val="133000"/>
              </a:lnSpc>
              <a:spcAft>
                <a:spcPts val="1000"/>
              </a:spcAft>
              <a:buNone/>
            </a:pPr>
            <a:r>
              <a:rPr lang="en-US" sz="1100" dirty="0">
                <a:solidFill>
                  <a:srgbClr val="15213F"/>
                </a:solidFill>
                <a:latin typeface="Roboto" pitchFamily="34" charset="0"/>
                <a:ea typeface="Roboto" pitchFamily="34" charset="-122"/>
                <a:cs typeface="Roboto" pitchFamily="34" charset="-120"/>
              </a:rPr>
              <a:t>The </a:t>
            </a:r>
            <a:r>
              <a:rPr lang="en-US" sz="1100" b="1" dirty="0">
                <a:solidFill>
                  <a:srgbClr val="15213F"/>
                </a:solidFill>
                <a:latin typeface="Roboto Bold" pitchFamily="34" charset="0"/>
                <a:ea typeface="Roboto Bold" pitchFamily="34" charset="-122"/>
                <a:cs typeface="Roboto Bold" pitchFamily="34" charset="-120"/>
              </a:rPr>
              <a:t>Interactive Quiz Application</a:t>
            </a:r>
            <a:r>
              <a:rPr lang="en-US" sz="1100" dirty="0">
                <a:solidFill>
                  <a:srgbClr val="15213F"/>
                </a:solidFill>
                <a:latin typeface="Roboto" pitchFamily="34" charset="0"/>
                <a:ea typeface="Roboto" pitchFamily="34" charset="-122"/>
                <a:cs typeface="Roboto" pitchFamily="34" charset="-120"/>
              </a:rPr>
              <a:t> is a web-based platform developed to make learning and knowledge assessment more </a:t>
            </a:r>
            <a:r>
              <a:rPr lang="en-US" sz="1100" b="1" dirty="0">
                <a:solidFill>
                  <a:srgbClr val="15213F"/>
                </a:solidFill>
                <a:latin typeface="Roboto Bold" pitchFamily="34" charset="0"/>
                <a:ea typeface="Roboto Bold" pitchFamily="34" charset="-122"/>
                <a:cs typeface="Roboto Bold" pitchFamily="34" charset="-120"/>
              </a:rPr>
              <a:t>interactive, engaging, and user-friendly</a:t>
            </a:r>
            <a:r>
              <a:rPr lang="en-US" sz="1100" dirty="0">
                <a:solidFill>
                  <a:srgbClr val="15213F"/>
                </a:solidFill>
                <a:latin typeface="Roboto" pitchFamily="34" charset="0"/>
                <a:ea typeface="Roboto" pitchFamily="34" charset="-122"/>
                <a:cs typeface="Roboto" pitchFamily="34" charset="-120"/>
              </a:rPr>
              <a:t>. It allows users to log in, select quiz categories, answer multiple-choice questions, and receive instant results.</a:t>
            </a:r>
            <a:endParaRPr lang="en-US" sz="1100" dirty="0"/>
          </a:p>
          <a:p>
            <a:pPr marL="0" indent="0" algn="l">
              <a:lnSpc>
                <a:spcPct val="133000"/>
              </a:lnSpc>
              <a:spcAft>
                <a:spcPts val="1000"/>
              </a:spcAft>
              <a:buNone/>
            </a:pPr>
            <a:r>
              <a:rPr lang="en-US" sz="1100" dirty="0">
                <a:solidFill>
                  <a:srgbClr val="15213F"/>
                </a:solidFill>
                <a:latin typeface="Roboto" pitchFamily="34" charset="0"/>
                <a:ea typeface="Roboto" pitchFamily="34" charset="-122"/>
                <a:cs typeface="Roboto" pitchFamily="34" charset="-120"/>
              </a:rPr>
              <a:t>The application provides features such as </a:t>
            </a:r>
            <a:r>
              <a:rPr lang="en-US" sz="1100" b="1" dirty="0">
                <a:solidFill>
                  <a:srgbClr val="15213F"/>
                </a:solidFill>
                <a:latin typeface="Roboto Bold" pitchFamily="34" charset="0"/>
                <a:ea typeface="Roboto Bold" pitchFamily="34" charset="-122"/>
                <a:cs typeface="Roboto Bold" pitchFamily="34" charset="-120"/>
              </a:rPr>
              <a:t>timed quizzes, progress tracking, score calculation, leaderboard rankings, performance charts, certificate generation, and dark mode</a:t>
            </a:r>
            <a:r>
              <a:rPr lang="en-US" sz="1100" dirty="0">
                <a:solidFill>
                  <a:srgbClr val="15213F"/>
                </a:solidFill>
                <a:latin typeface="Roboto" pitchFamily="34" charset="0"/>
                <a:ea typeface="Roboto" pitchFamily="34" charset="-122"/>
                <a:cs typeface="Roboto" pitchFamily="34" charset="-120"/>
              </a:rPr>
              <a:t>. It is developed using </a:t>
            </a:r>
            <a:r>
              <a:rPr lang="en-US" sz="1100" b="1" dirty="0">
                <a:solidFill>
                  <a:srgbClr val="15213F"/>
                </a:solidFill>
                <a:latin typeface="Roboto Bold" pitchFamily="34" charset="0"/>
                <a:ea typeface="Roboto Bold" pitchFamily="34" charset="-122"/>
                <a:cs typeface="Roboto Bold" pitchFamily="34" charset="-120"/>
              </a:rPr>
              <a:t>HTML, CSS, JavaScript, and Bootstrap</a:t>
            </a:r>
            <a:r>
              <a:rPr lang="en-US" sz="1100" dirty="0">
                <a:solidFill>
                  <a:srgbClr val="15213F"/>
                </a:solidFill>
                <a:latin typeface="Roboto" pitchFamily="34" charset="0"/>
                <a:ea typeface="Roboto" pitchFamily="34" charset="-122"/>
                <a:cs typeface="Roboto" pitchFamily="34" charset="-120"/>
              </a:rPr>
              <a:t>, with Local Storage used to maintain user and quiz information.</a:t>
            </a:r>
            <a:endParaRPr lang="en-US" sz="1100" dirty="0"/>
          </a:p>
          <a:p>
            <a:pPr marL="0" indent="0" algn="l">
              <a:lnSpc>
                <a:spcPct val="133000"/>
              </a:lnSpc>
              <a:buNone/>
            </a:pPr>
            <a:r>
              <a:rPr lang="en-US" sz="1100" dirty="0">
                <a:solidFill>
                  <a:srgbClr val="15213F"/>
                </a:solidFill>
                <a:latin typeface="Roboto" pitchFamily="34" charset="0"/>
                <a:ea typeface="Roboto" pitchFamily="34" charset="-122"/>
                <a:cs typeface="Roboto" pitchFamily="34" charset="-120"/>
              </a:rPr>
              <a:t>The main objective of the project is to provide a </a:t>
            </a:r>
            <a:r>
              <a:rPr lang="en-US" sz="1100" b="1" dirty="0">
                <a:solidFill>
                  <a:srgbClr val="15213F"/>
                </a:solidFill>
                <a:latin typeface="Roboto Bold" pitchFamily="34" charset="0"/>
                <a:ea typeface="Roboto Bold" pitchFamily="34" charset="-122"/>
                <a:cs typeface="Roboto Bold" pitchFamily="34" charset="-120"/>
              </a:rPr>
              <a:t>responsive and interactive learning environment</a:t>
            </a:r>
            <a:r>
              <a:rPr lang="en-US" sz="1100" dirty="0">
                <a:solidFill>
                  <a:srgbClr val="15213F"/>
                </a:solidFill>
                <a:latin typeface="Roboto" pitchFamily="34" charset="0"/>
                <a:ea typeface="Roboto" pitchFamily="34" charset="-122"/>
                <a:cs typeface="Roboto" pitchFamily="34" charset="-120"/>
              </a:rPr>
              <a:t> where users can test their knowledge, identify their strengths and weaknesses, and improve their performance through repeated practice.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1305669"/>
            <a:ext cx="8151763" cy="354360"/>
          </a:xfrm>
          <a:prstGeom prst="rect">
            <a:avLst/>
          </a:prstGeom>
          <a:noFill/>
          <a:ln/>
        </p:spPr>
        <p:txBody>
          <a:bodyPr wrap="none" lIns="0" tIns="0" rIns="0" bIns="0" rtlCol="0" anchor="t"/>
          <a:lstStyle/>
          <a:p>
            <a:pPr marL="0" indent="0" algn="l">
              <a:lnSpc>
                <a:spcPct val="104000"/>
              </a:lnSpc>
              <a:buNone/>
            </a:pPr>
            <a:r>
              <a:rPr lang="en-US" sz="2200" dirty="0">
                <a:solidFill>
                  <a:srgbClr val="3257B8"/>
                </a:solidFill>
                <a:latin typeface="Roboto Slab" pitchFamily="34" charset="0"/>
                <a:ea typeface="Roboto Slab" pitchFamily="34" charset="-122"/>
                <a:cs typeface="Roboto Slab" pitchFamily="34" charset="-120"/>
              </a:rPr>
              <a:t>Technologies: </a:t>
            </a:r>
            <a:endParaRPr lang="en-US" sz="2200" dirty="0"/>
          </a:p>
        </p:txBody>
      </p:sp>
      <p:pic>
        <p:nvPicPr>
          <p:cNvPr id="3" name="Image 0" descr="preencoded.png"/>
          <p:cNvPicPr>
            <a:picLocks noChangeAspect="1"/>
          </p:cNvPicPr>
          <p:nvPr/>
        </p:nvPicPr>
        <p:blipFill>
          <a:blip r:embed="rId3"/>
          <a:stretch>
            <a:fillRect/>
          </a:stretch>
        </p:blipFill>
        <p:spPr>
          <a:xfrm>
            <a:off x="496119" y="1943546"/>
            <a:ext cx="552450" cy="690562"/>
          </a:xfrm>
          <a:prstGeom prst="rect">
            <a:avLst/>
          </a:prstGeom>
        </p:spPr>
      </p:pic>
      <p:sp>
        <p:nvSpPr>
          <p:cNvPr id="4" name="Text 1"/>
          <p:cNvSpPr/>
          <p:nvPr/>
        </p:nvSpPr>
        <p:spPr>
          <a:xfrm>
            <a:off x="1225748" y="1943546"/>
            <a:ext cx="1175370" cy="221456"/>
          </a:xfrm>
          <a:prstGeom prst="rect">
            <a:avLst/>
          </a:prstGeom>
          <a:noFill/>
          <a:ln/>
        </p:spPr>
        <p:txBody>
          <a:bodyPr wrap="none" lIns="0" tIns="0" rIns="0" bIns="0" rtlCol="0" anchor="t"/>
          <a:lstStyle/>
          <a:p>
            <a:pPr marL="0" indent="0" algn="l">
              <a:lnSpc>
                <a:spcPct val="104000"/>
              </a:lnSpc>
              <a:buNone/>
            </a:pPr>
            <a:r>
              <a:rPr lang="en-US" sz="1350" dirty="0">
                <a:solidFill>
                  <a:srgbClr val="15213F"/>
                </a:solidFill>
                <a:latin typeface="Roboto Slab" pitchFamily="34" charset="0"/>
                <a:ea typeface="Roboto Slab" pitchFamily="34" charset="-122"/>
                <a:cs typeface="Roboto Slab" pitchFamily="34" charset="-120"/>
              </a:rPr>
              <a:t>HTML</a:t>
            </a:r>
            <a:endParaRPr lang="en-US" sz="1350" dirty="0"/>
          </a:p>
        </p:txBody>
      </p:sp>
      <p:sp>
        <p:nvSpPr>
          <p:cNvPr id="5" name="Text 2"/>
          <p:cNvSpPr/>
          <p:nvPr/>
        </p:nvSpPr>
        <p:spPr>
          <a:xfrm>
            <a:off x="1225748" y="2250058"/>
            <a:ext cx="1175370" cy="1360884"/>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15213F"/>
                </a:solidFill>
                <a:latin typeface="Roboto" pitchFamily="34" charset="0"/>
                <a:ea typeface="Roboto" pitchFamily="34" charset="-122"/>
                <a:cs typeface="Roboto" pitchFamily="34" charset="-120"/>
              </a:rPr>
              <a:t>Accessible, semantic structure that supports ARIA and progressive enhancement.</a:t>
            </a:r>
            <a:endParaRPr lang="en-US" sz="1100" dirty="0"/>
          </a:p>
        </p:txBody>
      </p:sp>
      <p:pic>
        <p:nvPicPr>
          <p:cNvPr id="6" name="Image 1" descr="preencoded.png"/>
          <p:cNvPicPr>
            <a:picLocks noChangeAspect="1"/>
          </p:cNvPicPr>
          <p:nvPr/>
        </p:nvPicPr>
        <p:blipFill>
          <a:blip r:embed="rId4"/>
          <a:stretch>
            <a:fillRect/>
          </a:stretch>
        </p:blipFill>
        <p:spPr>
          <a:xfrm>
            <a:off x="2578298" y="1943546"/>
            <a:ext cx="552450" cy="690562"/>
          </a:xfrm>
          <a:prstGeom prst="rect">
            <a:avLst/>
          </a:prstGeom>
        </p:spPr>
      </p:pic>
      <p:sp>
        <p:nvSpPr>
          <p:cNvPr id="7" name="Text 3"/>
          <p:cNvSpPr/>
          <p:nvPr/>
        </p:nvSpPr>
        <p:spPr>
          <a:xfrm>
            <a:off x="3307928" y="1943546"/>
            <a:ext cx="1175445" cy="221456"/>
          </a:xfrm>
          <a:prstGeom prst="rect">
            <a:avLst/>
          </a:prstGeom>
          <a:noFill/>
          <a:ln/>
        </p:spPr>
        <p:txBody>
          <a:bodyPr wrap="none" lIns="0" tIns="0" rIns="0" bIns="0" rtlCol="0" anchor="t"/>
          <a:lstStyle/>
          <a:p>
            <a:pPr marL="0" indent="0" algn="l">
              <a:lnSpc>
                <a:spcPct val="104000"/>
              </a:lnSpc>
              <a:buNone/>
            </a:pPr>
            <a:r>
              <a:rPr lang="en-US" sz="1350" dirty="0">
                <a:solidFill>
                  <a:srgbClr val="15213F"/>
                </a:solidFill>
                <a:latin typeface="Roboto Slab" pitchFamily="34" charset="0"/>
                <a:ea typeface="Roboto Slab" pitchFamily="34" charset="-122"/>
                <a:cs typeface="Roboto Slab" pitchFamily="34" charset="-120"/>
              </a:rPr>
              <a:t>CSS</a:t>
            </a:r>
            <a:endParaRPr lang="en-US" sz="1350" dirty="0"/>
          </a:p>
        </p:txBody>
      </p:sp>
      <p:sp>
        <p:nvSpPr>
          <p:cNvPr id="8" name="Text 4"/>
          <p:cNvSpPr/>
          <p:nvPr/>
        </p:nvSpPr>
        <p:spPr>
          <a:xfrm>
            <a:off x="3307928" y="2250058"/>
            <a:ext cx="1175445" cy="158769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15213F"/>
                </a:solidFill>
                <a:latin typeface="Roboto" pitchFamily="34" charset="0"/>
                <a:ea typeface="Roboto" pitchFamily="34" charset="-122"/>
                <a:cs typeface="Roboto" pitchFamily="34" charset="-120"/>
              </a:rPr>
              <a:t>Responsive styling, Flexbox/Grid layouts and transitions for smooth UI behaviour.</a:t>
            </a:r>
            <a:endParaRPr lang="en-US" sz="1100" dirty="0"/>
          </a:p>
        </p:txBody>
      </p:sp>
      <p:pic>
        <p:nvPicPr>
          <p:cNvPr id="9" name="Image 2" descr="preencoded.png"/>
          <p:cNvPicPr>
            <a:picLocks noChangeAspect="1"/>
          </p:cNvPicPr>
          <p:nvPr/>
        </p:nvPicPr>
        <p:blipFill>
          <a:blip r:embed="rId5"/>
          <a:stretch>
            <a:fillRect/>
          </a:stretch>
        </p:blipFill>
        <p:spPr>
          <a:xfrm>
            <a:off x="4660553" y="1943546"/>
            <a:ext cx="552450" cy="690562"/>
          </a:xfrm>
          <a:prstGeom prst="rect">
            <a:avLst/>
          </a:prstGeom>
        </p:spPr>
      </p:pic>
      <p:sp>
        <p:nvSpPr>
          <p:cNvPr id="10" name="Text 5"/>
          <p:cNvSpPr/>
          <p:nvPr/>
        </p:nvSpPr>
        <p:spPr>
          <a:xfrm>
            <a:off x="5390183" y="1943546"/>
            <a:ext cx="1175445" cy="221456"/>
          </a:xfrm>
          <a:prstGeom prst="rect">
            <a:avLst/>
          </a:prstGeom>
          <a:noFill/>
          <a:ln/>
        </p:spPr>
        <p:txBody>
          <a:bodyPr wrap="none" lIns="0" tIns="0" rIns="0" bIns="0" rtlCol="0" anchor="t"/>
          <a:lstStyle/>
          <a:p>
            <a:pPr marL="0" indent="0" algn="l">
              <a:lnSpc>
                <a:spcPct val="104000"/>
              </a:lnSpc>
              <a:buNone/>
            </a:pPr>
            <a:r>
              <a:rPr lang="en-US" sz="1350" dirty="0">
                <a:solidFill>
                  <a:srgbClr val="15213F"/>
                </a:solidFill>
                <a:latin typeface="Roboto Slab" pitchFamily="34" charset="0"/>
                <a:ea typeface="Roboto Slab" pitchFamily="34" charset="-122"/>
                <a:cs typeface="Roboto Slab" pitchFamily="34" charset="-120"/>
              </a:rPr>
              <a:t>JavaScript</a:t>
            </a:r>
            <a:endParaRPr lang="en-US" sz="1350" dirty="0"/>
          </a:p>
        </p:txBody>
      </p:sp>
      <p:sp>
        <p:nvSpPr>
          <p:cNvPr id="11" name="Text 6"/>
          <p:cNvSpPr/>
          <p:nvPr/>
        </p:nvSpPr>
        <p:spPr>
          <a:xfrm>
            <a:off x="5390183" y="2250058"/>
            <a:ext cx="1175445" cy="1360884"/>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15213F"/>
                </a:solidFill>
                <a:latin typeface="Roboto" pitchFamily="34" charset="0"/>
                <a:ea typeface="Roboto" pitchFamily="34" charset="-122"/>
                <a:cs typeface="Roboto" pitchFamily="34" charset="-120"/>
              </a:rPr>
              <a:t>Client-side logic, state management, and DOM updates for instant feedback and scoring.</a:t>
            </a:r>
            <a:endParaRPr lang="en-US" sz="1100" dirty="0"/>
          </a:p>
        </p:txBody>
      </p:sp>
      <p:pic>
        <p:nvPicPr>
          <p:cNvPr id="12" name="Image 3" descr="preencoded.png"/>
          <p:cNvPicPr>
            <a:picLocks noChangeAspect="1"/>
          </p:cNvPicPr>
          <p:nvPr/>
        </p:nvPicPr>
        <p:blipFill>
          <a:blip r:embed="rId6"/>
          <a:stretch>
            <a:fillRect/>
          </a:stretch>
        </p:blipFill>
        <p:spPr>
          <a:xfrm>
            <a:off x="6742807" y="1943546"/>
            <a:ext cx="552450" cy="690562"/>
          </a:xfrm>
          <a:prstGeom prst="rect">
            <a:avLst/>
          </a:prstGeom>
        </p:spPr>
      </p:pic>
      <p:sp>
        <p:nvSpPr>
          <p:cNvPr id="13" name="Text 7"/>
          <p:cNvSpPr/>
          <p:nvPr/>
        </p:nvSpPr>
        <p:spPr>
          <a:xfrm>
            <a:off x="7472437" y="1943546"/>
            <a:ext cx="1175445" cy="221456"/>
          </a:xfrm>
          <a:prstGeom prst="rect">
            <a:avLst/>
          </a:prstGeom>
          <a:noFill/>
          <a:ln/>
        </p:spPr>
        <p:txBody>
          <a:bodyPr wrap="none" lIns="0" tIns="0" rIns="0" bIns="0" rtlCol="0" anchor="t"/>
          <a:lstStyle/>
          <a:p>
            <a:pPr marL="0" indent="0" algn="l">
              <a:lnSpc>
                <a:spcPct val="104000"/>
              </a:lnSpc>
              <a:buNone/>
            </a:pPr>
            <a:r>
              <a:rPr lang="en-US" sz="1350" dirty="0">
                <a:solidFill>
                  <a:srgbClr val="15213F"/>
                </a:solidFill>
                <a:latin typeface="Roboto Slab" pitchFamily="34" charset="0"/>
                <a:ea typeface="Roboto Slab" pitchFamily="34" charset="-122"/>
                <a:cs typeface="Roboto Slab" pitchFamily="34" charset="-120"/>
              </a:rPr>
              <a:t>Bootstrap</a:t>
            </a:r>
            <a:endParaRPr lang="en-US" sz="1350" dirty="0"/>
          </a:p>
        </p:txBody>
      </p:sp>
      <p:sp>
        <p:nvSpPr>
          <p:cNvPr id="14" name="Text 8"/>
          <p:cNvSpPr/>
          <p:nvPr/>
        </p:nvSpPr>
        <p:spPr>
          <a:xfrm>
            <a:off x="7472437" y="2250058"/>
            <a:ext cx="1175445" cy="1134070"/>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15213F"/>
                </a:solidFill>
                <a:latin typeface="Roboto" pitchFamily="34" charset="0"/>
                <a:ea typeface="Roboto" pitchFamily="34" charset="-122"/>
                <a:cs typeface="Roboto" pitchFamily="34" charset="-120"/>
              </a:rPr>
              <a:t>Rapid, consistent UI components and utility classes to accelerate development.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1453753"/>
            <a:ext cx="4722763" cy="354360"/>
          </a:xfrm>
          <a:prstGeom prst="rect">
            <a:avLst/>
          </a:prstGeom>
          <a:noFill/>
          <a:ln/>
        </p:spPr>
        <p:txBody>
          <a:bodyPr wrap="none" lIns="0" tIns="0" rIns="0" bIns="0" rtlCol="0" anchor="t"/>
          <a:lstStyle/>
          <a:p>
            <a:pPr marL="0" indent="0" algn="l">
              <a:lnSpc>
                <a:spcPct val="104000"/>
              </a:lnSpc>
              <a:buNone/>
            </a:pPr>
            <a:r>
              <a:rPr lang="en-US" sz="2200" dirty="0">
                <a:solidFill>
                  <a:srgbClr val="3257B8"/>
                </a:solidFill>
                <a:latin typeface="Roboto Slab" pitchFamily="34" charset="0"/>
                <a:ea typeface="Roboto Slab" pitchFamily="34" charset="-122"/>
                <a:cs typeface="Roboto Slab" pitchFamily="34" charset="-120"/>
              </a:rPr>
              <a:t>Workflow</a:t>
            </a:r>
            <a:endParaRPr lang="en-US" sz="2200" dirty="0"/>
          </a:p>
        </p:txBody>
      </p:sp>
      <p:sp>
        <p:nvSpPr>
          <p:cNvPr id="4" name="Text 1"/>
          <p:cNvSpPr/>
          <p:nvPr/>
        </p:nvSpPr>
        <p:spPr>
          <a:xfrm>
            <a:off x="496119" y="2020714"/>
            <a:ext cx="5179963" cy="226814"/>
          </a:xfrm>
          <a:prstGeom prst="rect">
            <a:avLst/>
          </a:prstGeom>
          <a:noFill/>
          <a:ln/>
        </p:spPr>
        <p:txBody>
          <a:bodyPr wrap="none" lIns="0" tIns="0" rIns="0" bIns="0" rtlCol="0" anchor="t"/>
          <a:lstStyle/>
          <a:p>
            <a:pPr marL="0" indent="0" algn="l">
              <a:lnSpc>
                <a:spcPct val="133000"/>
              </a:lnSpc>
              <a:buNone/>
            </a:pPr>
            <a:r>
              <a:rPr lang="en-US" sz="1100" dirty="0">
                <a:solidFill>
                  <a:srgbClr val="15213F"/>
                </a:solidFill>
                <a:latin typeface="Roboto" pitchFamily="34" charset="0"/>
                <a:ea typeface="Roboto" pitchFamily="34" charset="-122"/>
                <a:cs typeface="Roboto" pitchFamily="34" charset="-120"/>
              </a:rPr>
              <a:t>     The pipeline ensures fresh content and smooth interactions:   </a:t>
            </a:r>
            <a:endParaRPr lang="en-US" sz="1100" dirty="0"/>
          </a:p>
        </p:txBody>
      </p:sp>
      <p:sp>
        <p:nvSpPr>
          <p:cNvPr id="5" name="Text 2"/>
          <p:cNvSpPr/>
          <p:nvPr/>
        </p:nvSpPr>
        <p:spPr>
          <a:xfrm>
            <a:off x="496119" y="2406997"/>
            <a:ext cx="4722763" cy="1282750"/>
          </a:xfrm>
          <a:prstGeom prst="rect">
            <a:avLst/>
          </a:prstGeom>
          <a:noFill/>
          <a:ln/>
        </p:spPr>
        <p:txBody>
          <a:bodyPr wrap="square" lIns="0" tIns="56707" rIns="0" bIns="0" rtlCol="0" anchor="t">
            <a:normAutofit/>
          </a:bodyPr>
          <a:lstStyle/>
          <a:p>
            <a:pPr marL="223520" indent="-223520" algn="l">
              <a:lnSpc>
                <a:spcPct val="133000"/>
              </a:lnSpc>
              <a:buSzPct val="100000"/>
              <a:buChar char="•"/>
            </a:pPr>
            <a:r>
              <a:rPr lang="en-US" sz="1100" dirty="0">
                <a:solidFill>
                  <a:srgbClr val="15213F"/>
                </a:solidFill>
                <a:latin typeface="Roboto" pitchFamily="34" charset="0"/>
                <a:ea typeface="Roboto" pitchFamily="34" charset="-122"/>
                <a:cs typeface="Roboto" pitchFamily="34" charset="-120"/>
              </a:rPr>
              <a:t>Dynamic fetching for varied question pools and categories</a:t>
            </a:r>
            <a:endParaRPr lang="en-US" sz="1100" dirty="0"/>
          </a:p>
          <a:p>
            <a:pPr marL="223520" indent="-223520" algn="l">
              <a:lnSpc>
                <a:spcPct val="133000"/>
              </a:lnSpc>
              <a:buSzPct val="100000"/>
              <a:buChar char="•"/>
            </a:pPr>
            <a:r>
              <a:rPr lang="en-US" sz="1100" dirty="0">
                <a:solidFill>
                  <a:srgbClr val="15213F"/>
                </a:solidFill>
                <a:latin typeface="Roboto" pitchFamily="34" charset="0"/>
                <a:ea typeface="Roboto" pitchFamily="34" charset="-122"/>
                <a:cs typeface="Roboto" pitchFamily="34" charset="-120"/>
              </a:rPr>
              <a:t>Client-side validation with immediate answer feedback</a:t>
            </a:r>
            <a:endParaRPr lang="en-US" sz="1100" dirty="0"/>
          </a:p>
          <a:p>
            <a:pPr marL="223520" indent="-223520" algn="l">
              <a:lnSpc>
                <a:spcPct val="133000"/>
              </a:lnSpc>
              <a:buSzPct val="100000"/>
              <a:buChar char="•"/>
            </a:pPr>
            <a:r>
              <a:rPr lang="en-US" sz="1100" dirty="0">
                <a:solidFill>
                  <a:srgbClr val="15213F"/>
                </a:solidFill>
                <a:latin typeface="Roboto" pitchFamily="34" charset="0"/>
                <a:ea typeface="Roboto" pitchFamily="34" charset="-122"/>
                <a:cs typeface="Roboto" pitchFamily="34" charset="-120"/>
              </a:rPr>
              <a:t>Real-time score calculation, progress tracking and end-of-quiz summary</a:t>
            </a:r>
            <a:endParaRPr lang="en-US" sz="1100" dirty="0"/>
          </a:p>
          <a:p>
            <a:pPr marL="223520" indent="-223520" algn="l">
              <a:lnSpc>
                <a:spcPct val="133000"/>
              </a:lnSpc>
              <a:buSzPct val="100000"/>
              <a:buChar char="•"/>
            </a:pPr>
            <a:r>
              <a:rPr lang="en-US" sz="1100" dirty="0">
                <a:solidFill>
                  <a:srgbClr val="15213F"/>
                </a:solidFill>
                <a:latin typeface="Roboto" pitchFamily="34" charset="0"/>
                <a:ea typeface="Roboto" pitchFamily="34" charset="-122"/>
                <a:cs typeface="Roboto" pitchFamily="34" charset="-120"/>
              </a:rPr>
              <a:t>Extensible hooks for custom question types and timed challenges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570681"/>
            <a:ext cx="8151763" cy="354360"/>
          </a:xfrm>
          <a:prstGeom prst="rect">
            <a:avLst/>
          </a:prstGeom>
          <a:noFill/>
          <a:ln/>
        </p:spPr>
        <p:txBody>
          <a:bodyPr wrap="none" lIns="0" tIns="0" rIns="0" bIns="0" rtlCol="0" anchor="t"/>
          <a:lstStyle/>
          <a:p>
            <a:pPr marL="0" indent="0" algn="l">
              <a:lnSpc>
                <a:spcPct val="104000"/>
              </a:lnSpc>
              <a:buNone/>
            </a:pPr>
            <a:r>
              <a:rPr lang="en-US" sz="2200" dirty="0">
                <a:solidFill>
                  <a:srgbClr val="3257B8"/>
                </a:solidFill>
                <a:latin typeface="Roboto Slab" pitchFamily="34" charset="0"/>
                <a:ea typeface="Roboto Slab" pitchFamily="34" charset="-122"/>
                <a:cs typeface="Roboto Slab" pitchFamily="34" charset="-120"/>
              </a:rPr>
              <a:t>System Architecture</a:t>
            </a:r>
            <a:endParaRPr lang="en-US" sz="2200" dirty="0"/>
          </a:p>
        </p:txBody>
      </p:sp>
      <p:sp>
        <p:nvSpPr>
          <p:cNvPr id="3" name="Text 1"/>
          <p:cNvSpPr/>
          <p:nvPr/>
        </p:nvSpPr>
        <p:spPr>
          <a:xfrm>
            <a:off x="496119" y="1924943"/>
            <a:ext cx="4752677" cy="1134070"/>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15213F"/>
                </a:solidFill>
                <a:latin typeface="Roboto" pitchFamily="34" charset="0"/>
                <a:ea typeface="Roboto" pitchFamily="34" charset="-122"/>
                <a:cs typeface="Roboto" pitchFamily="34" charset="-120"/>
              </a:rPr>
              <a:t>     The user interacts with the responsive interface through the navigation bar. JavaScript manages quiz questions, answers, timer, progress and scoring. User information and scores are maintained using Local Storage. Finally, the application displays results, performance charts, leaderboard rankings and certificates</a:t>
            </a:r>
            <a:endParaRPr lang="en-US" sz="1100" dirty="0"/>
          </a:p>
        </p:txBody>
      </p:sp>
      <p:pic>
        <p:nvPicPr>
          <p:cNvPr id="4" name="Image 0" descr="preencoded.png"/>
          <p:cNvPicPr>
            <a:picLocks noChangeAspect="1"/>
          </p:cNvPicPr>
          <p:nvPr/>
        </p:nvPicPr>
        <p:blipFill>
          <a:blip r:embed="rId3"/>
          <a:stretch>
            <a:fillRect/>
          </a:stretch>
        </p:blipFill>
        <p:spPr>
          <a:xfrm>
            <a:off x="5599435" y="1297112"/>
            <a:ext cx="3053135" cy="2035373"/>
          </a:xfrm>
          <a:prstGeom prst="rect">
            <a:avLst/>
          </a:prstGeom>
        </p:spPr>
      </p:pic>
      <p:sp>
        <p:nvSpPr>
          <p:cNvPr id="5" name="Text 2"/>
          <p:cNvSpPr/>
          <p:nvPr/>
        </p:nvSpPr>
        <p:spPr>
          <a:xfrm>
            <a:off x="5599435" y="3491954"/>
            <a:ext cx="3510335" cy="226814"/>
          </a:xfrm>
          <a:prstGeom prst="rect">
            <a:avLst/>
          </a:prstGeom>
          <a:noFill/>
          <a:ln/>
        </p:spPr>
        <p:txBody>
          <a:bodyPr wrap="none" lIns="0" tIns="0" rIns="0" bIns="0" rtlCol="0" anchor="t"/>
          <a:lstStyle/>
          <a:p>
            <a:pPr marL="0" indent="0" algn="l">
              <a:lnSpc>
                <a:spcPct val="133000"/>
              </a:lnSpc>
              <a:buNone/>
            </a:pPr>
            <a:endParaRPr lang="en-US" sz="1100" dirty="0"/>
          </a:p>
        </p:txBody>
      </p:sp>
      <p:sp>
        <p:nvSpPr>
          <p:cNvPr id="8" name="Text 4"/>
          <p:cNvSpPr/>
          <p:nvPr/>
        </p:nvSpPr>
        <p:spPr>
          <a:xfrm>
            <a:off x="956816" y="4182963"/>
            <a:ext cx="8006507" cy="226814"/>
          </a:xfrm>
          <a:prstGeom prst="rect">
            <a:avLst/>
          </a:prstGeom>
          <a:noFill/>
          <a:ln/>
        </p:spPr>
        <p:txBody>
          <a:bodyPr wrap="none" lIns="0" tIns="0" rIns="0" bIns="0" rtlCol="0" anchor="t"/>
          <a:lstStyle/>
          <a:p>
            <a:pPr marL="0" indent="0" algn="l">
              <a:lnSpc>
                <a:spcPct val="133000"/>
              </a:lnSpc>
              <a:buNone/>
            </a:pP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2130549"/>
            <a:ext cx="4722763" cy="442987"/>
          </a:xfrm>
          <a:prstGeom prst="rect">
            <a:avLst/>
          </a:prstGeom>
          <a:noFill/>
          <a:ln/>
        </p:spPr>
        <p:txBody>
          <a:bodyPr wrap="none" lIns="0" tIns="0" rIns="0" bIns="0" rtlCol="0" anchor="t"/>
          <a:lstStyle/>
          <a:p>
            <a:pPr marL="0" indent="0" algn="ctr">
              <a:lnSpc>
                <a:spcPct val="104000"/>
              </a:lnSpc>
              <a:buNone/>
            </a:pPr>
            <a:r>
              <a:rPr lang="en-US" sz="2750" dirty="0">
                <a:solidFill>
                  <a:srgbClr val="3257B8"/>
                </a:solidFill>
                <a:latin typeface="Roboto Slab" pitchFamily="34" charset="0"/>
                <a:ea typeface="Roboto Slab" pitchFamily="34" charset="-122"/>
                <a:cs typeface="Roboto Slab" pitchFamily="34" charset="-120"/>
              </a:rPr>
              <a:t>Thank You</a:t>
            </a:r>
            <a:endParaRPr lang="en-US" sz="2750" dirty="0"/>
          </a:p>
        </p:txBody>
      </p:sp>
      <p:sp>
        <p:nvSpPr>
          <p:cNvPr id="4" name="Text 1"/>
          <p:cNvSpPr/>
          <p:nvPr/>
        </p:nvSpPr>
        <p:spPr>
          <a:xfrm>
            <a:off x="267519" y="2765035"/>
            <a:ext cx="5179963" cy="226814"/>
          </a:xfrm>
          <a:prstGeom prst="rect">
            <a:avLst/>
          </a:prstGeom>
          <a:noFill/>
          <a:ln/>
        </p:spPr>
        <p:txBody>
          <a:bodyPr wrap="none" lIns="0" tIns="0" rIns="0" bIns="0" rtlCol="0" anchor="t"/>
          <a:lstStyle/>
          <a:p>
            <a:pPr marL="0" indent="0" algn="ctr">
              <a:lnSpc>
                <a:spcPct val="133000"/>
              </a:lnSpc>
              <a:buNone/>
            </a:pPr>
            <a:r>
              <a:rPr lang="en-US" sz="1100" dirty="0">
                <a:solidFill>
                  <a:srgbClr val="15213F"/>
                </a:solidFill>
                <a:latin typeface="Roboto" pitchFamily="34" charset="0"/>
                <a:ea typeface="Roboto" pitchFamily="34" charset="-122"/>
                <a:cs typeface="Roboto" pitchFamily="34" charset="-120"/>
              </a:rPr>
              <a:t>     </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438</Words>
  <Application>Microsoft Office PowerPoint</Application>
  <PresentationFormat>On-screen Show (16:9)</PresentationFormat>
  <Paragraphs>37</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Roboto</vt:lpstr>
      <vt:lpstr>Roboto Slab</vt:lpstr>
      <vt:lpstr>Roboto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Rajesh Doppa</dc:creator>
  <cp:lastModifiedBy>Rajesh Doppa</cp:lastModifiedBy>
  <cp:revision>8</cp:revision>
  <cp:lastPrinted>2026-08-18T02:47:05Z</cp:lastPrinted>
  <dcterms:created xsi:type="dcterms:W3CDTF">2026-08-17T10:22:57Z</dcterms:created>
  <dcterms:modified xsi:type="dcterms:W3CDTF">2026-09-24T05:00:03Z</dcterms:modified>
</cp:coreProperties>
</file>